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988ba8b2a554a4d" /><Relationship Type="http://schemas.openxmlformats.org/officeDocument/2006/relationships/extended-properties" Target="/docProps/app.xml" Id="Rd7dfd9ee0c9c4a7d" /><Relationship Type="http://schemas.openxmlformats.org/officeDocument/2006/relationships/officeDocument" Target="/ppt/presentation.xml" Id="Rf487c95505ac417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fa3d6f0697040c4"/>
  </p:sldMasterIdLst>
  <p:notesMasterIdLst>
    <p:notesMasterId xmlns:r="http://schemas.openxmlformats.org/officeDocument/2006/relationships" r:id="R01a3408596b442db"/>
  </p:notesMasterIdLst>
  <p:sldIdLst>
    <p:sldId xmlns:r="http://schemas.openxmlformats.org/officeDocument/2006/relationships" id="256" r:id="Rf17e0262530643f6"/>
    <p:sldId xmlns:r="http://schemas.openxmlformats.org/officeDocument/2006/relationships" id="257" r:id="Re78d306808894fca"/>
    <p:sldId xmlns:r="http://schemas.openxmlformats.org/officeDocument/2006/relationships" id="258" r:id="R6bac2eaaaad1450b"/>
    <p:sldId xmlns:r="http://schemas.openxmlformats.org/officeDocument/2006/relationships" id="259" r:id="R8fabdf83a5eb46dc"/>
    <p:sldId xmlns:r="http://schemas.openxmlformats.org/officeDocument/2006/relationships" id="260" r:id="R7c899bdf54d04c9c"/>
    <p:sldId xmlns:r="http://schemas.openxmlformats.org/officeDocument/2006/relationships" id="261" r:id="Rd60a59b7b6a94b93"/>
    <p:sldId xmlns:r="http://schemas.openxmlformats.org/officeDocument/2006/relationships" id="262" r:id="Rb00a55a58fc34a86"/>
    <p:sldId xmlns:r="http://schemas.openxmlformats.org/officeDocument/2006/relationships" id="263" r:id="R512e96e39c8f437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9b31e8dd3ab403b" /><Relationship Type="http://schemas.openxmlformats.org/officeDocument/2006/relationships/slideMaster" Target="/ppt/slideMasters/slideMaster1.xml" Id="Rbfa3d6f0697040c4" /><Relationship Type="http://schemas.openxmlformats.org/officeDocument/2006/relationships/notesMaster" Target="/ppt/notesMasters/notesMaster1.xml" Id="R01a3408596b442db" /><Relationship Type="http://schemas.openxmlformats.org/officeDocument/2006/relationships/presProps" Target="/ppt/presProps.xml" Id="R449e0ef9376a4541" /><Relationship Type="http://schemas.openxmlformats.org/officeDocument/2006/relationships/tableStyles" Target="/ppt/tableStyles.xml" Id="Ree3b7e8570664422" /><Relationship Type="http://schemas.openxmlformats.org/officeDocument/2006/relationships/slide" Target="/ppt/slides/slide1.xml" Id="Rf17e0262530643f6" /><Relationship Type="http://schemas.openxmlformats.org/officeDocument/2006/relationships/slide" Target="/ppt/slides/slide2.xml" Id="Re78d306808894fca" /><Relationship Type="http://schemas.openxmlformats.org/officeDocument/2006/relationships/slide" Target="/ppt/slides/slide3.xml" Id="R6bac2eaaaad1450b" /><Relationship Type="http://schemas.openxmlformats.org/officeDocument/2006/relationships/slide" Target="/ppt/slides/slide4.xml" Id="R8fabdf83a5eb46dc" /><Relationship Type="http://schemas.openxmlformats.org/officeDocument/2006/relationships/slide" Target="/ppt/slides/slide5.xml" Id="R7c899bdf54d04c9c" /><Relationship Type="http://schemas.openxmlformats.org/officeDocument/2006/relationships/slide" Target="/ppt/slides/slide6.xml" Id="Rd60a59b7b6a94b93" /><Relationship Type="http://schemas.openxmlformats.org/officeDocument/2006/relationships/slide" Target="/ppt/slides/slide7.xml" Id="Rb00a55a58fc34a86" /><Relationship Type="http://schemas.openxmlformats.org/officeDocument/2006/relationships/slide" Target="/ppt/slides/slide8.xml" Id="R512e96e39c8f437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1f53f78b1bc46a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52926c3a09344b9" /><Relationship Type="http://schemas.openxmlformats.org/officeDocument/2006/relationships/notesMaster" Target="/ppt/notesMasters/notesMaster1.xml" Id="R1c883b68c8824af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c293401afa64778" /><Relationship Type="http://schemas.openxmlformats.org/officeDocument/2006/relationships/notesMaster" Target="/ppt/notesMasters/notesMaster1.xml" Id="Re464cbd41816444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1b8d1f968e24145" /><Relationship Type="http://schemas.openxmlformats.org/officeDocument/2006/relationships/notesMaster" Target="/ppt/notesMasters/notesMaster1.xml" Id="R143b7db517a5493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2c9a19b6dd74de1" /><Relationship Type="http://schemas.openxmlformats.org/officeDocument/2006/relationships/notesMaster" Target="/ppt/notesMasters/notesMaster1.xml" Id="R3a6c2371538744d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7c6712f5a3d4a36" /><Relationship Type="http://schemas.openxmlformats.org/officeDocument/2006/relationships/notesMaster" Target="/ppt/notesMasters/notesMaster1.xml" Id="Raa7f2b340e53406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61853f8e228453b" /><Relationship Type="http://schemas.openxmlformats.org/officeDocument/2006/relationships/notesMaster" Target="/ppt/notesMasters/notesMaster1.xml" Id="Recd52b024352422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a5ff446b337452b" /><Relationship Type="http://schemas.openxmlformats.org/officeDocument/2006/relationships/notesMaster" Target="/ppt/notesMasters/notesMaster1.xml" Id="R71e04999edf0471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9b66210ab734d4f" /><Relationship Type="http://schemas.openxmlformats.org/officeDocument/2006/relationships/notesMaster" Target="/ppt/notesMasters/notesMaster1.xml" Id="Rc765c4136595419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D:/111/研究生/实习/火花思维/kaggle-retention-agent/screenshots/02_workspace_agent_result.png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D:/111Python/11my first python/随机尖点模型/Kaggle论文/高技能在线竞技社区用户长期沉默机制研究——来自 Kaggle 的纵向证据2.0.docx</a:t>
            </a:r>
          </a:p>
          <a:p xmlns:a="http://schemas.openxmlformats.org/drawingml/2006/main">
            <a:r>
              <a:t>D:/111/研究生/实习/火花思维/kaggle-retention-agent/artifacts/overview.json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D:/111/研究生/实习/火花思维/kaggle-retention-agent/docs/PulseGuard_AI_Agent_PRD.docx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D:/111/研究生/实习/火花思维/kaggle-retention-agent/agent_engine.py</a:t>
            </a:r>
          </a:p>
          <a:p xmlns:a="http://schemas.openxmlformats.org/drawingml/2006/main">
            <a:r>
              <a:t>D:/111/研究生/实习/火花思维/kaggle-retention-agent/docs/agent_workflow.mmd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D:/111/研究生/实习/火花思维/kaggle-retention-agent/build_artifacts.py</a:t>
            </a:r>
          </a:p>
          <a:p xmlns:a="http://schemas.openxmlformats.org/drawingml/2006/main">
            <a:r>
              <a:t>D:/111/研究生/实习/火花思维/kaggle-retention-agent/artifacts/evaluation.json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D:/111/研究生/实习/火花思维/kaggle-retention-agent/screenshots/02_workspace_agent_result.png</a:t>
            </a:r>
          </a:p>
          <a:p xmlns:a="http://schemas.openxmlformats.org/drawingml/2006/main">
            <a:r>
              <a:t>D:/111/研究生/实习/火花思维/kaggle-retention-agent/web/index.html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D:/111/研究生/实习/火花思维/kaggle-retention-agent/artifacts/evaluation.json</a:t>
            </a:r>
          </a:p>
          <a:p xmlns:a="http://schemas.openxmlformats.org/drawingml/2006/main">
            <a:r>
              <a:t>D:/111/研究生/实习/火花思维/kaggle-retention-agent/artifacts/evaluation_cases.csv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D:/111/研究生/实习/火花思维/kaggle-retention-agent/docs/PulseGuard_AI_Agent_PRD.docx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1ac5d79b2f4ab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d63eebfec884dd2" /><Relationship Type="http://schemas.openxmlformats.org/officeDocument/2006/relationships/slideLayout" Target="/ppt/slideLayouts/slideLayout1.xml" Id="R9de05616f8a1414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de05616f8a1414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32a40e47df4004" /><Relationship Type="http://schemas.openxmlformats.org/officeDocument/2006/relationships/image" Target="/ppt/media/image.jpeg" Id="Rffcf78f1bddf4c2e" /><Relationship Type="http://schemas.openxmlformats.org/officeDocument/2006/relationships/notesSlide" Target="/ppt/notesSlides/notesSlide1.xml" Id="R39682cdeff644fe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0211d5f4984207" /><Relationship Type="http://schemas.openxmlformats.org/officeDocument/2006/relationships/notesSlide" Target="/ppt/notesSlides/notesSlide2.xml" Id="R23c7a0b53977423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a1fe833f514a82" /><Relationship Type="http://schemas.openxmlformats.org/officeDocument/2006/relationships/notesSlide" Target="/ppt/notesSlides/notesSlide3.xml" Id="R4d67aa349fb14f2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7d58046bed45b6" /><Relationship Type="http://schemas.openxmlformats.org/officeDocument/2006/relationships/notesSlide" Target="/ppt/notesSlides/notesSlide4.xml" Id="Re995f7b0199f495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8183979f0f42a3" /><Relationship Type="http://schemas.openxmlformats.org/officeDocument/2006/relationships/notesSlide" Target="/ppt/notesSlides/notesSlide5.xml" Id="R766d18f28c8d41b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172e6ab73c4d5c" /><Relationship Type="http://schemas.openxmlformats.org/officeDocument/2006/relationships/image" Target="/ppt/media/image2.jpeg" Id="R2e87dc9a7fc245eb" /><Relationship Type="http://schemas.openxmlformats.org/officeDocument/2006/relationships/notesSlide" Target="/ppt/notesSlides/notesSlide6.xml" Id="Rc00da5d1da014da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60372617354224" /><Relationship Type="http://schemas.openxmlformats.org/officeDocument/2006/relationships/chart" Target="/ppt/slides/charts/chart1.xml" Id="Rcbb329462def4f5f" /><Relationship Type="http://schemas.openxmlformats.org/officeDocument/2006/relationships/notesSlide" Target="/ppt/notesSlides/notesSlide7.xml" Id="Rab7b51bab8204a4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5239a816b14713" /><Relationship Type="http://schemas.openxmlformats.org/officeDocument/2006/relationships/notesSlide" Target="/ppt/notesSlides/notesSlide8.xml" Id="R19152e54252f4419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PulseGuard</c:v>
          </c:tx>
          <c:spPr>
            <a:solidFill xmlns:a="http://schemas.openxmlformats.org/drawingml/2006/main">
              <a:srgbClr val="167B5A"/>
            </a:solidFill>
          </c:spPr>
          <c:cat>
            <c:strLit>
              <c:ptCount val="4"/>
              <c:pt idx="0">
                <c:v>AUC</c:v>
              </c:pt>
              <c:pt idx="1">
                <c:v>准确率</c:v>
              </c:pt>
              <c:pt idx="2">
                <c:v>召回率</c:v>
              </c:pt>
              <c:pt idx="3">
                <c:v>F1</c:v>
              </c:pt>
            </c:strLit>
          </c:cat>
          <c:val>
            <c:numLit>
              <c:formatCode>General</c:formatCode>
              <c:ptCount val="4"/>
              <c:pt idx="0">
                <c:v>77.7</c:v>
              </c:pt>
              <c:pt idx="1">
                <c:v>73.6</c:v>
              </c:pt>
              <c:pt idx="2">
                <c:v>82.3</c:v>
              </c:pt>
              <c:pt idx="3">
                <c:v>77.8</c:v>
              </c:pt>
            </c:numLit>
          </c:val>
        </c:ser>
        <c:ser>
          <c:idx val="1"/>
          <c:order val="1"/>
          <c:tx>
            <c:v>统一概率基线</c:v>
          </c:tx>
          <c:spPr>
            <a:solidFill xmlns:a="http://schemas.openxmlformats.org/drawingml/2006/main">
              <a:srgbClr val="BFC8C3"/>
            </a:solidFill>
          </c:spPr>
          <c:cat>
            <c:strLit>
              <c:ptCount val="4"/>
              <c:pt idx="0">
                <c:v>AUC</c:v>
              </c:pt>
              <c:pt idx="1">
                <c:v>准确率</c:v>
              </c:pt>
              <c:pt idx="2">
                <c:v>召回率</c:v>
              </c:pt>
              <c:pt idx="3">
                <c:v>F1</c:v>
              </c:pt>
            </c:strLit>
          </c:cat>
          <c:val>
            <c:numLit>
              <c:formatCode>General</c:formatCode>
              <c:ptCount val="4"/>
              <c:pt idx="0">
                <c:v>50</c:v>
              </c:pt>
              <c:pt idx="1">
                <c:v>56.1</c:v>
              </c:pt>
              <c:pt idx="2">
                <c:v>100</c:v>
              </c:pt>
              <c:pt idx="3">
                <c:v>71.9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3DF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2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1C2ED4-1E6E-4AED-BE67-0CD34C715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7B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7B5A"/>
                </a:solidFill>
                <a:latin typeface="Microsoft YaHei"/>
                <a:ea typeface="Microsoft YaHei"/>
                <a:cs typeface="Microsoft YaHei"/>
              </a:rPr>
              <a:t>AI产品作品集 · 程诗雨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CCF306-DE05-4817-B05B-6097086DD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5000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rPr>
              <a:t>PulseGuard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A7970F-8EB5-48F0-AFCB-FFF71D6B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500062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rPr>
              <a:t>社区用户沉默预警与</a:t>
            </a:r>
          </a:p>
          <a:p xmlns:a="http://schemas.openxmlformats.org/drawingml/2006/main">
            <a:pPr algn="l">
              <a:defRPr sz="2550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rPr>
              <a:t>运营策略 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47677C-9333-4C74-9259-4360AEA3D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16B"/>
                </a:solidFill>
                <a:latin typeface="Microsoft YaHei"/>
                <a:ea typeface="Microsoft YaHei"/>
                <a:cs typeface="Microsoft YaHei"/>
              </a:rPr>
              <a:t>真实公开数据 · 可解释风险模型 · Agent工具编排 · 可运行原型</a:t>
            </a:r>
          </a:p>
        </p:txBody>
      </p:sp>
      <p:cxnSp>
        <p:nvCxnSpPr>
          <p:cNvPr id="13" name=""/>
          <p:cNvCxnSpPr/>
          <p:nvPr/>
        </p:nvCxnSpPr>
        <p:spPr>
          <a:xfrm xmlns:a="http://schemas.openxmlformats.org/drawingml/2006/main">
            <a:off x="400050" y="5095875"/>
            <a:ext cx="485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815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63264D-6C4F-4540-9575-3BD7FF81D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054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rPr>
              <a:t>产品经理 / 产品运营方向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15134A-C7A3-404C-B1F8-415DFDC38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00050"/>
            <a:ext cx="5905500" cy="590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F"/>
          </a:solidFill>
          <a:ln xmlns:a="http://schemas.openxmlformats.org/drawingml/2006/main" w="9525">
            <a:solidFill>
              <a:srgbClr val="C9D1CC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cf78f1bddf4c2e"/>
          <a:srcRect xmlns:a="http://schemas.openxmlformats.org/drawingml/2006/main" l="12219" t="0" r="1221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19800" y="533400"/>
            <a:ext cx="5638800" cy="5638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3830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C8BD5A-3764-4E10-857A-CD35F05E4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7B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67B5A"/>
                </a:solidFill>
                <a:latin typeface="Microsoft YaHei"/>
                <a:ea typeface="Microsoft YaHei"/>
                <a:cs typeface="Microsoft YaHei"/>
              </a:rPr>
              <a:t>PULSEGUARD · AI PRODUCT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FCBCBC-F126-4D89-B5B3-FC6E04AF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0858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rPr>
              <a:t>风险识别发生得太晚，运营也缺少可解释的优先级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57C97A-9F8C-44A9-93AC-41D79F4AC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16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DD1811-0E64-497D-B6C9-63CD9C9FF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rPr>
              <a:t>运营痛点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D1A743-037A-4899-B3F7-B0453A7BC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098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7B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7B5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61F335-E79B-4816-B658-D73DCCCFD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rPr>
              <a:t>发现滞后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73F21B-234F-4C5C-8BAC-44EB665D0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3365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16B"/>
                </a:solidFill>
                <a:latin typeface="Microsoft YaHei"/>
                <a:ea typeface="Microsoft YaHei"/>
                <a:cs typeface="Microsoft YaHei"/>
              </a:rPr>
              <a:t>连续沉默后才进入召回，错过最佳干预窗口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A8D572-AF3F-4695-85BC-615AFA5CE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147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7B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7B5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38578D-D800-40FB-B32E-F3BAC15CD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147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rPr>
              <a:t>排序困难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4D6822-751A-41FA-929A-D989F7940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3855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16B"/>
                </a:solidFill>
                <a:latin typeface="Microsoft YaHei"/>
                <a:ea typeface="Microsoft YaHei"/>
                <a:cs typeface="Microsoft YaHei"/>
              </a:rPr>
              <a:t>同一批低活跃用户缺少统一风险优先级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621D60-0AF6-40CB-9F85-EF3D34F2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196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7B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7B5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DF3E99-958F-4580-BB81-4DF4E7F86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196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rPr>
              <a:t>解释不足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17D366-F101-4856-BF98-75708B7BA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4345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16B"/>
                </a:solidFill>
                <a:latin typeface="Microsoft YaHei"/>
                <a:ea typeface="Microsoft YaHei"/>
                <a:cs typeface="Microsoft YaHei"/>
              </a:rPr>
              <a:t>无法说明风险来自节奏、任务还是资源连接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366CE5-305A-4BD3-BCC6-E19582E8B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57350"/>
            <a:ext cx="57912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459949-29AB-4774-8C7B-0304B6320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7167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rPr>
              <a:t>可利用的数据基础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EDC009-5EE0-46AE-984D-E89FD192C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86050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67B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67B5A"/>
                </a:solidFill>
                <a:latin typeface="Microsoft YaHei"/>
                <a:ea typeface="Microsoft YaHei"/>
                <a:cs typeface="Microsoft YaHei"/>
              </a:rPr>
              <a:t>62,471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C25C79-578A-465B-B3F3-96308C65D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147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16B"/>
                </a:solidFill>
                <a:latin typeface="Microsoft YaHei"/>
                <a:ea typeface="Microsoft YaHei"/>
                <a:cs typeface="Microsoft YaHei"/>
              </a:rPr>
              <a:t>用户月度行为记录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8B8324-0318-4783-9A10-18A4B0A79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68605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rPr>
              <a:t>1,000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093086-7FA2-472F-A34F-9147FE355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3147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16B"/>
                </a:solidFill>
                <a:latin typeface="Microsoft YaHei"/>
                <a:ea typeface="Microsoft YaHei"/>
                <a:cs typeface="Microsoft YaHei"/>
              </a:rPr>
              <a:t>匿名用户</a:t>
            </a:r>
          </a:p>
        </p:txBody>
      </p:sp>
      <p:cxnSp>
        <p:nvCxnSpPr>
          <p:cNvPr id="41" name=""/>
          <p:cNvCxnSpPr/>
          <p:nvPr/>
        </p:nvCxnSpPr>
        <p:spPr>
          <a:xfrm xmlns:a="http://schemas.openxmlformats.org/drawingml/2006/main">
            <a:off x="6343650" y="3905250"/>
            <a:ext cx="4953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1CC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A20E3C-3531-4186-84DE-4DE7D360C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rPr>
              <a:t>数据包含提交、活跃天数、竞赛参与、资源连接和历史参与节奏，并保留可重跑的数据处理与模型代码。</a:t>
            </a:r>
          </a:p>
        </p:txBody>
      </p:sp>
    </p:spTree>
    <p:extLst>
      <p:ext uri="{BB962C8B-B14F-4D97-AF65-F5344CB8AC3E}">
        <p14:creationId xmlns:p14="http://schemas.microsoft.com/office/powerpoint/2010/main" val="700600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711475-023D-4CA1-8E7C-90D1DC796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7B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67B5A"/>
                </a:solidFill>
                <a:latin typeface="Microsoft YaHei"/>
                <a:ea typeface="Microsoft YaHei"/>
                <a:cs typeface="Microsoft YaHei"/>
              </a:rPr>
              <a:t>PULSEGUARD · AI PRODUCT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B1DF86-45E1-4221-8483-51F7230A9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0858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rPr>
              <a:t>把研究变量转成运营人员能够完成的诊断任务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1C7A89-84CF-46E3-A214-787185CBC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16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cxnSp>
        <p:nvCxnSpPr>
          <p:cNvPr id="23" name=""/>
          <p:cNvCxnSpPr/>
          <p:nvPr/>
        </p:nvCxnSpPr>
        <p:spPr>
          <a:xfrm xmlns:a="http://schemas.openxmlformats.org/drawingml/2006/main">
            <a:off x="400050" y="1752600"/>
            <a:ext cx="5238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167B5A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703C83-4805-455F-AD0E-DB49C41BA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621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6716B"/>
                </a:solidFill>
                <a:latin typeface="Microsoft YaHei"/>
                <a:ea typeface="Microsoft YaHei"/>
                <a:cs typeface="Microsoft YaHei"/>
              </a:rPr>
              <a:t>用户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41F5FB-D13F-47E6-AC37-08794F8C6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rPr>
              <a:t>社区运营人员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436311-FA1F-4786-B3D5-8EA858C17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1940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16B"/>
                </a:solidFill>
                <a:latin typeface="Microsoft YaHei"/>
                <a:ea typeface="Microsoft YaHei"/>
                <a:cs typeface="Microsoft YaHei"/>
              </a:rPr>
              <a:t>需要在召回和任务推荐前筛选优先用户</a:t>
            </a:r>
          </a:p>
        </p:txBody>
      </p:sp>
      <p:cxnSp>
        <p:nvCxnSpPr>
          <p:cNvPr id="27" name=""/>
          <p:cNvCxnSpPr/>
          <p:nvPr/>
        </p:nvCxnSpPr>
        <p:spPr>
          <a:xfrm xmlns:a="http://schemas.openxmlformats.org/drawingml/2006/main">
            <a:off x="6172200" y="1752600"/>
            <a:ext cx="5238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167B5A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F75059-009E-4AE3-9CE4-32C811860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621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6716B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212A60-CE97-4007-95A5-D4B36C3C9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241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rPr>
              <a:t>匿名用户行为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90CB16-1F11-42D2-A0BF-95F24C88E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1940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16B"/>
                </a:solidFill>
                <a:latin typeface="Microsoft YaHei"/>
                <a:ea typeface="Microsoft YaHei"/>
                <a:cs typeface="Microsoft YaHei"/>
              </a:rPr>
              <a:t>最近活跃、历史节奏、资源连接和任务参与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400050" y="3790950"/>
            <a:ext cx="5238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167B5A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B12DDA-93C6-4B2F-813E-C43CA25DE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6716B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F8C511-4021-4F77-A764-A2367289A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624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rPr>
              <a:t>风险与行动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3B4103-ADBF-4F95-8508-0BA38ED3A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16B"/>
                </a:solidFill>
                <a:latin typeface="Microsoft YaHei"/>
                <a:ea typeface="Microsoft YaHei"/>
                <a:cs typeface="Microsoft YaHei"/>
              </a:rPr>
              <a:t>风险分层、证据解释和可复核的干预建议</a:t>
            </a:r>
          </a:p>
        </p:txBody>
      </p:sp>
      <p:cxnSp>
        <p:nvCxnSpPr>
          <p:cNvPr id="35" name=""/>
          <p:cNvCxnSpPr/>
          <p:nvPr/>
        </p:nvCxnSpPr>
        <p:spPr>
          <a:xfrm xmlns:a="http://schemas.openxmlformats.org/drawingml/2006/main">
            <a:off x="6172200" y="3790950"/>
            <a:ext cx="5238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C84F49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9CDF8F-4CD4-4B10-B764-D014660FB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005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6716B"/>
                </a:solidFill>
                <a:latin typeface="Microsoft YaHei"/>
                <a:ea typeface="Microsoft YaHei"/>
                <a:cs typeface="Microsoft YaHei"/>
              </a:rPr>
              <a:t>边界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B78171-02E5-4ADD-9918-E5098B11E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3624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rPr>
              <a:t>辅助决策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1A918D-11DD-458F-A9D8-B3F636A79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8577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16B"/>
                </a:solidFill>
                <a:latin typeface="Microsoft YaHei"/>
                <a:ea typeface="Microsoft YaHei"/>
                <a:cs typeface="Microsoft YaHei"/>
              </a:rPr>
              <a:t>不推断真实身份，不把相关关系描述为因果</a:t>
            </a:r>
          </a:p>
        </p:txBody>
      </p:sp>
    </p:spTree>
    <p:extLst>
      <p:ext uri="{BB962C8B-B14F-4D97-AF65-F5344CB8AC3E}">
        <p14:creationId xmlns:p14="http://schemas.microsoft.com/office/powerpoint/2010/main" val="21199256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4E6F8B-6636-4FB9-A121-23ECA9CC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7B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67B5A"/>
                </a:solidFill>
                <a:latin typeface="Microsoft YaHei"/>
                <a:ea typeface="Microsoft YaHei"/>
                <a:cs typeface="Microsoft YaHei"/>
              </a:rPr>
              <a:t>PULSEGUARD · AI PRODUCT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3F133F-7C17-4F17-BDA7-3446E1571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0858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rPr>
              <a:t>Agent负责编排工具，模型与证据保留在可审计的数据层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2814F4-5ACB-4AAF-A621-F2E6D690E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16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895350" y="3286125"/>
            <a:ext cx="9639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1CC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32A224-9EF0-4AE4-BBA9-92C6FC028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527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B5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F78B36-F641-436F-9D37-44FF63BAF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6716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5C0367-3A0C-4839-BBC1-C7BCA250F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6712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rPr>
              <a:t>画像查询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655D08-F394-4116-A412-B3D6D679C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1790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16B"/>
                </a:solidFill>
                <a:latin typeface="Microsoft YaHei"/>
                <a:ea typeface="Microsoft YaHei"/>
                <a:cs typeface="Microsoft YaHei"/>
              </a:rPr>
              <a:t>读取最近行为</a:t>
            </a:r>
          </a:p>
          <a:p xmlns:a="http://schemas.openxmlformats.org/drawingml/2006/main">
            <a:pPr algn="l">
              <a:defRPr sz="1200" b="0">
                <a:solidFill>
                  <a:srgbClr val="66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16B"/>
                </a:solidFill>
                <a:latin typeface="Microsoft YaHei"/>
                <a:ea typeface="Microsoft YaHei"/>
                <a:cs typeface="Microsoft YaHei"/>
              </a:rPr>
              <a:t>与历史参与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8FA9B3-AAE9-4806-91B8-93CB1359B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1527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B5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B63603-B2B6-43C9-A9D5-E49B8BD43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6670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6716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4BF36D-C8EE-4AD7-B24E-F0CFEFB21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66712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rPr>
              <a:t>风险计算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B18D49-5F16-4C42-9EEB-88E1DE7B5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095750"/>
            <a:ext cx="1790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16B"/>
                </a:solidFill>
                <a:latin typeface="Microsoft YaHei"/>
                <a:ea typeface="Microsoft YaHei"/>
                <a:cs typeface="Microsoft YaHei"/>
              </a:rPr>
              <a:t>输出分数、分层</a:t>
            </a:r>
          </a:p>
          <a:p xmlns:a="http://schemas.openxmlformats.org/drawingml/2006/main">
            <a:pPr algn="l">
              <a:defRPr sz="1200" b="0">
                <a:solidFill>
                  <a:srgbClr val="66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16B"/>
                </a:solidFill>
                <a:latin typeface="Microsoft YaHei"/>
                <a:ea typeface="Microsoft YaHei"/>
                <a:cs typeface="Microsoft YaHei"/>
              </a:rPr>
              <a:t>和模型版本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A699E8-58F9-4F8C-9F72-F3F07FE52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1527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B5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85490E-55B7-4856-8FF0-BB6343C5E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6670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6716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3DAFE3-AC78-4670-A9DA-37AB5212C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66712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rPr>
              <a:t>因素解释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DDA3B3-364F-4EA9-9689-00DE16579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095750"/>
            <a:ext cx="1790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16B"/>
                </a:solidFill>
                <a:latin typeface="Microsoft YaHei"/>
                <a:ea typeface="Microsoft YaHei"/>
                <a:cs typeface="Microsoft YaHei"/>
              </a:rPr>
              <a:t>识别风险信号</a:t>
            </a:r>
          </a:p>
          <a:p xmlns:a="http://schemas.openxmlformats.org/drawingml/2006/main">
            <a:pPr algn="l">
              <a:defRPr sz="1200" b="0">
                <a:solidFill>
                  <a:srgbClr val="66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16B"/>
                </a:solidFill>
                <a:latin typeface="Microsoft YaHei"/>
                <a:ea typeface="Microsoft YaHei"/>
                <a:cs typeface="Microsoft YaHei"/>
              </a:rPr>
              <a:t>与保护信号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88B2E5-AF94-49D9-B151-021F6BDF0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527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B5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D7EAE4-56E1-4227-8443-CF7D10410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6670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6716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9DBBD3-3263-4B50-8A15-C940E011A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6712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rPr>
              <a:t>策略生成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7826FA-285A-4B8A-ADDB-4B913E7A1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95750"/>
            <a:ext cx="1790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16B"/>
                </a:solidFill>
                <a:latin typeface="Microsoft YaHei"/>
                <a:ea typeface="Microsoft YaHei"/>
                <a:cs typeface="Microsoft YaHei"/>
              </a:rPr>
              <a:t>匹配任务、资源</a:t>
            </a:r>
          </a:p>
          <a:p xmlns:a="http://schemas.openxmlformats.org/drawingml/2006/main">
            <a:pPr algn="l">
              <a:defRPr sz="1200" b="0">
                <a:solidFill>
                  <a:srgbClr val="66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16B"/>
                </a:solidFill>
                <a:latin typeface="Microsoft YaHei"/>
                <a:ea typeface="Microsoft YaHei"/>
                <a:cs typeface="Microsoft YaHei"/>
              </a:rPr>
              <a:t>和召回动作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B688EC-CA9B-45BB-A7FA-001C24EFF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1527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7A1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F96114-06D0-49DB-8FDD-457CC8752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6670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6716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D2F5C8-FA82-4411-A41F-015347DBC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66712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rPr>
              <a:t>人工复核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50803B-0EE1-4306-853B-09ECCB3AC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095750"/>
            <a:ext cx="1790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16B"/>
                </a:solidFill>
                <a:latin typeface="Microsoft YaHei"/>
                <a:ea typeface="Microsoft YaHei"/>
                <a:cs typeface="Microsoft YaHei"/>
              </a:rPr>
              <a:t>确认、修改或</a:t>
            </a:r>
          </a:p>
          <a:p xmlns:a="http://schemas.openxmlformats.org/drawingml/2006/main">
            <a:pPr algn="l">
              <a:defRPr sz="1200" b="0">
                <a:solidFill>
                  <a:srgbClr val="66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16B"/>
                </a:solidFill>
                <a:latin typeface="Microsoft YaHei"/>
                <a:ea typeface="Microsoft YaHei"/>
                <a:cs typeface="Microsoft YaHei"/>
              </a:rPr>
              <a:t>退回补充信息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37D4AB-0A63-4554-A659-6A3A2DBDB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53050"/>
            <a:ext cx="11391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6A79DA-DCBA-4A7A-A01A-AFB0F0710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3402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7B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7B5A"/>
                </a:solidFill>
                <a:latin typeface="Microsoft YaHei"/>
                <a:ea typeface="Microsoft YaHei"/>
                <a:cs typeface="Microsoft YaHei"/>
              </a:rPr>
              <a:t>关键原则：大模型只负责理解问题和组织表达，风险计算与证据引用必须由工具完成。</a:t>
            </a:r>
          </a:p>
        </p:txBody>
      </p:sp>
    </p:spTree>
    <p:extLst>
      <p:ext uri="{BB962C8B-B14F-4D97-AF65-F5344CB8AC3E}">
        <p14:creationId xmlns:p14="http://schemas.microsoft.com/office/powerpoint/2010/main" val="12592861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550912-6B24-4544-9974-C5E4D5433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7B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67B5A"/>
                </a:solidFill>
                <a:latin typeface="Microsoft YaHei"/>
                <a:ea typeface="Microsoft YaHei"/>
                <a:cs typeface="Microsoft YaHei"/>
              </a:rPr>
              <a:t>PULSEGUARD · AI PRODUCT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65F62A-B589-439E-9BFD-9D9472998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0858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rPr>
              <a:t>为产品预警重新定义标签，而不是照搬论文回归口径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0C154A-402F-49FE-B75A-12132EF9F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16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2A8FCF-AAE4-4DF3-8BFB-23DE4E132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52197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94B497-4F98-4FDA-9FCA-C0A7EEFC0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rPr>
              <a:t>论文解释口径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186C4F-C10D-42FA-BC26-CAAB25C30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4238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rPr>
              <a:t>回答“哪些长期参与状态与持续沉默相关”</a:t>
            </a:r>
          </a:p>
        </p:txBody>
      </p:sp>
      <p:cxnSp>
        <p:nvCxnSpPr>
          <p:cNvPr id="21" name=""/>
          <p:cNvCxnSpPr/>
          <p:nvPr/>
        </p:nvCxnSpPr>
        <p:spPr>
          <a:xfrm xmlns:a="http://schemas.openxmlformats.org/drawingml/2006/main">
            <a:off x="685800" y="3371850"/>
            <a:ext cx="42386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1CC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FA7E50-B5CE-416F-83BA-55556BA23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4238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6716B"/>
                </a:solidFill>
                <a:latin typeface="Microsoft YaHei"/>
                <a:ea typeface="Microsoft YaHei"/>
                <a:cs typeface="Microsoft YaHei"/>
              </a:rPr>
              <a:t>适合机制研究</a:t>
            </a:r>
          </a:p>
          <a:p xmlns:a="http://schemas.openxmlformats.org/drawingml/2006/main">
            <a:pPr algn="l">
              <a:defRPr sz="1650" b="0">
                <a:solidFill>
                  <a:srgbClr val="66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6716B"/>
                </a:solidFill>
                <a:latin typeface="Microsoft YaHei"/>
                <a:ea typeface="Microsoft YaHei"/>
                <a:cs typeface="Microsoft YaHei"/>
              </a:rPr>
              <a:t>不直接等于实时运营预警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F41804-EE65-44AF-8528-5EB44BA43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52600"/>
            <a:ext cx="56007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9E1753-B845-47BB-A603-E04DBAEFC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764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7B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7B5A"/>
                </a:solidFill>
                <a:latin typeface="Microsoft YaHei"/>
                <a:ea typeface="Microsoft YaHei"/>
                <a:cs typeface="Microsoft YaHei"/>
              </a:rPr>
              <a:t>产品预警口径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F892F9-D1F4-4EB7-A8A3-EEAB8ED11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09850"/>
            <a:ext cx="4667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rPr>
              <a:t>当前月仍有活动，随后连续3个月无提交、无活跃天数且无参赛记录</a:t>
            </a:r>
          </a:p>
        </p:txBody>
      </p:sp>
      <p:cxnSp>
        <p:nvCxnSpPr>
          <p:cNvPr id="26" name=""/>
          <p:cNvCxnSpPr/>
          <p:nvPr/>
        </p:nvCxnSpPr>
        <p:spPr>
          <a:xfrm xmlns:a="http://schemas.openxmlformats.org/drawingml/2006/main">
            <a:off x="6477000" y="3562350"/>
            <a:ext cx="4667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67B5A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4CF83C-9BAF-45FD-BEC8-A828D84E7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48100"/>
            <a:ext cx="466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rPr>
              <a:t>训练：2015–2023</a:t>
            </a:r>
          </a:p>
          <a:p xmlns:a="http://schemas.openxmlformats.org/drawingml/2006/main">
            <a:pPr algn="l">
              <a:defRPr sz="1650" b="0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rPr>
              <a:t>测试：2024–2025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5FE435-FCAD-43EA-9B69-560BC721F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72100"/>
            <a:ext cx="11391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rPr>
              <a:t>2,306条活跃转移样本 · 975名用户</a:t>
            </a:r>
          </a:p>
        </p:txBody>
      </p:sp>
    </p:spTree>
    <p:extLst>
      <p:ext uri="{BB962C8B-B14F-4D97-AF65-F5344CB8AC3E}">
        <p14:creationId xmlns:p14="http://schemas.microsoft.com/office/powerpoint/2010/main" val="1558915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73DEE6-E6F9-429C-9651-28761CE2D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7B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67B5A"/>
                </a:solidFill>
                <a:latin typeface="Microsoft YaHei"/>
                <a:ea typeface="Microsoft YaHei"/>
                <a:cs typeface="Microsoft YaHei"/>
              </a:rPr>
              <a:t>PULSEGUARD · AI PRODUCT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CC9E17-63B2-4944-9062-464063615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0858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rPr>
              <a:t>同一工作台完成筛选、诊断、解释与干预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9FAF0A-9BF1-4FA0-B63D-12B7B5FA6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16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62A551-D864-495C-8BA8-8265D92E2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7715250" cy="436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F"/>
          </a:solidFill>
          <a:ln xmlns:a="http://schemas.openxmlformats.org/drawingml/2006/main" w="9525">
            <a:solidFill>
              <a:srgbClr val="C9D1CC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87dc9a7fc245eb"/>
          <a:stretch xmlns:a="http://schemas.openxmlformats.org/drawingml/2006/main"/>
        </p:blipFill>
        <p:spPr>
          <a:xfrm xmlns:a="http://schemas.openxmlformats.org/drawingml/2006/main">
            <a:off x="1522265" y="1714500"/>
            <a:ext cx="5470820" cy="41338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27852A-09B7-410C-8516-F3027D43C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145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7B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7B5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8DC925-9ECC-4E2C-B4E4-7EB8DFAFA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193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rPr>
              <a:t>风险队列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46B129-1654-467F-B4B2-63831B455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09825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16B"/>
                </a:solidFill>
                <a:latin typeface="Microsoft YaHei"/>
                <a:ea typeface="Microsoft YaHei"/>
                <a:cs typeface="Microsoft YaHei"/>
              </a:rPr>
              <a:t>按分数排序并支持分层筛选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31EF65-4946-40B1-BB73-1AF91F198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861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7B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7B5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65CD64-60E0-4E1E-A2CD-D67987043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909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rPr>
              <a:t>解释与建议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BD292D-D4FF-40B9-8A99-C13B19144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81425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16B"/>
                </a:solidFill>
                <a:latin typeface="Microsoft YaHei"/>
                <a:ea typeface="Microsoft YaHei"/>
                <a:cs typeface="Microsoft YaHei"/>
              </a:rPr>
              <a:t>同时展示模型贡献和运营动作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838137-6078-45F6-B5CF-A5DE52E8E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577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7B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7B5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0F3435-56DC-4777-83E6-EEB874C9D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rPr>
              <a:t>工具轨迹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7F55B6-63F3-4CB3-90E9-42F9AC422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153025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16B"/>
                </a:solidFill>
                <a:latin typeface="Microsoft YaHei"/>
                <a:ea typeface="Microsoft YaHei"/>
                <a:cs typeface="Microsoft YaHei"/>
              </a:rPr>
              <a:t>保留每一步调用结果供复核</a:t>
            </a:r>
          </a:p>
        </p:txBody>
      </p:sp>
    </p:spTree>
    <p:extLst>
      <p:ext uri="{BB962C8B-B14F-4D97-AF65-F5344CB8AC3E}">
        <p14:creationId xmlns:p14="http://schemas.microsoft.com/office/powerpoint/2010/main" val="17960364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128EF9-6C3C-4ED6-BBDD-8EFF8DF2E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7B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67B5A"/>
                </a:solidFill>
                <a:latin typeface="Microsoft YaHei"/>
                <a:ea typeface="Microsoft YaHei"/>
                <a:cs typeface="Microsoft YaHei"/>
              </a:rPr>
              <a:t>PULSEGUARD · AI PRODUCT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757D00-7E1F-429B-B9D7-51A30DCB2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0858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rPr>
              <a:t>时间留出测试证明模型具备风险排序价值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019652-F26D-4C2B-BD1F-5FF543EAD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16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400050" y="1619250"/>
          <a:ext xmlns:a="http://schemas.openxmlformats.org/drawingml/2006/main" cx="5905500" cy="4333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bb329462def4f5f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15E2FA-C570-454C-99C8-366FB6C7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57350"/>
            <a:ext cx="49339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1A33D0-655B-4856-9A72-B36C05173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828800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7B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B5A"/>
                </a:solidFill>
                <a:latin typeface="Microsoft YaHei"/>
                <a:ea typeface="Microsoft YaHei"/>
                <a:cs typeface="Microsoft YaHei"/>
              </a:rPr>
              <a:t>0.777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735E28-E474-4EFC-99E3-58A827706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8669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rPr>
              <a:t>ROC AUC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38BCDE-0615-4143-91F7-A94F36F45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2098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16B"/>
                </a:solidFill>
                <a:latin typeface="Microsoft YaHei"/>
                <a:ea typeface="Microsoft YaHei"/>
                <a:cs typeface="Microsoft YaHei"/>
              </a:rPr>
              <a:t>风险排序能力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1E3522-C29D-4944-97CF-868676B6E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86100"/>
            <a:ext cx="49339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A3F5EE-6319-41DC-B59F-288B00EFE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257550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rPr>
              <a:t>73.6%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37E726-5C46-46B6-B140-F34239F54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2956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rPr>
              <a:t>准确率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59974F-C43A-4348-AD96-9A06E8452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6385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16B"/>
                </a:solidFill>
                <a:latin typeface="Microsoft YaHei"/>
                <a:ea typeface="Microsoft YaHei"/>
                <a:cs typeface="Microsoft YaHei"/>
              </a:rPr>
              <a:t>较统一基线更高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403140-ECAE-4DB9-BA90-7ED3EDDCD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14850"/>
            <a:ext cx="49339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1ABCAA-279D-4E13-B490-C276C7EC9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686300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rPr>
              <a:t>82.3%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2A6AE1-2B6C-4492-84A2-0FB53B69A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7244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rPr>
              <a:t>召回率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ED7354-031F-4ABA-A7AC-EDE98D57F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0673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16B"/>
                </a:solidFill>
                <a:latin typeface="Microsoft YaHei"/>
                <a:ea typeface="Microsoft YaHei"/>
                <a:cs typeface="Microsoft YaHei"/>
              </a:rPr>
              <a:t>覆盖大部分沉默转移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773A31-37A3-41F3-8B7F-E9FCBFDB2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096000"/>
            <a:ext cx="493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4F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84F49"/>
                </a:solidFill>
                <a:latin typeface="Microsoft YaHei"/>
                <a:ea typeface="Microsoft YaHei"/>
                <a:cs typeface="Microsoft YaHei"/>
              </a:rPr>
              <a:t>离线测试 ≠ 线上业务提升；上线前仍需运营反馈和A/B验证。</a:t>
            </a:r>
          </a:p>
        </p:txBody>
      </p:sp>
    </p:spTree>
    <p:extLst>
      <p:ext uri="{BB962C8B-B14F-4D97-AF65-F5344CB8AC3E}">
        <p14:creationId xmlns:p14="http://schemas.microsoft.com/office/powerpoint/2010/main" val="178103400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3AA43D-0548-4CC0-BF60-1E66E4119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7B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7B5A"/>
                </a:solidFill>
                <a:latin typeface="Microsoft YaHei"/>
                <a:ea typeface="Microsoft YaHei"/>
                <a:cs typeface="Microsoft YaHei"/>
              </a:rPr>
              <a:t>PULSEGUARD · CASE SUMMARY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8B6481-4028-4367-A9AC-6B5406B39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99060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rPr>
              <a:t>从真实数据到可演示产品，</a:t>
            </a:r>
          </a:p>
          <a:p xmlns:a="http://schemas.openxmlformats.org/drawingml/2006/main">
            <a:pPr algn="l">
              <a:defRPr sz="3600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rPr>
              <a:t>下一步验证运营动作是否有效</a:t>
            </a:r>
          </a:p>
        </p:txBody>
      </p:sp>
      <p:cxnSp>
        <p:nvCxnSpPr>
          <p:cNvPr id="11" name=""/>
          <p:cNvCxnSpPr/>
          <p:nvPr/>
        </p:nvCxnSpPr>
        <p:spPr>
          <a:xfrm xmlns:a="http://schemas.openxmlformats.org/drawingml/2006/main">
            <a:off x="400050" y="36385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815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080002-202F-40E6-AE1C-AEF33C50F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7B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7B5A"/>
                </a:solidFill>
                <a:latin typeface="Microsoft YaHei"/>
                <a:ea typeface="Microsoft YaHei"/>
                <a:cs typeface="Microsoft YaHei"/>
              </a:rPr>
              <a:t>已完成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7BA942-C496-4CB0-96C8-4BC8A02C4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0"/>
            <a:ext cx="5238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rPr>
              <a:t>风险标签重构 · 时间留出模型 · 工具编排 · 交互原型 · PRD与评测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F99542-1C07-4F3D-8F01-884ADBC8F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005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27A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27A1A"/>
                </a:solidFill>
                <a:latin typeface="Microsoft YaHei"/>
                <a:ea typeface="Microsoft YaHei"/>
                <a:cs typeface="Microsoft YaHei"/>
              </a:rPr>
              <a:t>下一步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D41E1C-6CCA-47F8-BE3E-D74C68C88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81500"/>
            <a:ext cx="495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815"/>
                </a:solidFill>
                <a:latin typeface="Microsoft YaHei"/>
                <a:ea typeface="Microsoft YaHei"/>
                <a:cs typeface="Microsoft YaHei"/>
              </a:rPr>
              <a:t>接入自然语言层 · 记录策略采纳 · 建立运营反馈 · 开展线上验证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287056-9BE1-4268-8DDA-773B7F3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388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16B"/>
                </a:solidFill>
                <a:latin typeface="Microsoft YaHei"/>
                <a:ea typeface="Microsoft YaHei"/>
                <a:cs typeface="Microsoft YaHei"/>
              </a:rPr>
              <a:t>程诗雨 · 产品经理 / 产品运营方向</a:t>
            </a:r>
          </a:p>
        </p:txBody>
      </p:sp>
    </p:spTree>
    <p:extLst>
      <p:ext uri="{BB962C8B-B14F-4D97-AF65-F5344CB8AC3E}">
        <p14:creationId xmlns:p14="http://schemas.microsoft.com/office/powerpoint/2010/main" val="15421498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2026-08-29T04:30:14.5310000Z</dcterms:created>
  <dcterms:modified xsi:type="dcterms:W3CDTF">2026-08-29T04:30:14.5320000Z</dcterms:modified>
</coreProperties>
</file>